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chivo Black" panose="020B0A03020202020B04" pitchFamily="34" charset="77"/>
      <p:regular r:id="rId11"/>
    </p:embeddedFont>
    <p:embeddedFont>
      <p:font typeface="Roboto Bold" panose="02000000000000000000" pitchFamily="2" charset="0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 autoAdjust="0"/>
    <p:restoredTop sz="94621" autoAdjust="0"/>
  </p:normalViewPr>
  <p:slideViewPr>
    <p:cSldViewPr>
      <p:cViewPr varScale="1">
        <p:scale>
          <a:sx n="72" d="100"/>
          <a:sy n="72" d="100"/>
        </p:scale>
        <p:origin x="66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‹N°›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« Bonjour, Aujourd’hui je vous présente mon projet de fin de cours en traitement d’images et IA : Traffic MVP.</a:t>
            </a:r>
          </a:p>
          <a:p>
            <a:r>
              <a:rPr lang="en-US"/>
              <a:t>L’idée est d’analyser le trafic à partir d’une vidéo, en détectant les véhicules, en calculant des indicateurs simples, puis en les affichant sur un dashboard.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Pour vous présenter Traffic MVP, je vais suivre 6 étapes.</a:t>
            </a:r>
          </a:p>
          <a:p>
            <a:endParaRPr lang="en-US"/>
          </a:p>
          <a:p>
            <a:r>
              <a:rPr lang="en-US"/>
              <a:t>D’abord le contexte et la problématique, puis les objectifs du projet.</a:t>
            </a:r>
          </a:p>
          <a:p>
            <a:endParaRPr lang="en-US"/>
          </a:p>
          <a:p>
            <a:r>
              <a:rPr lang="en-US"/>
              <a:t>Ensuite je explique pourquoi j’ai choisi cette solution et les technologies utilisées.</a:t>
            </a:r>
          </a:p>
          <a:p>
            <a:endParaRPr lang="en-US"/>
          </a:p>
          <a:p>
            <a:r>
              <a:rPr lang="en-US"/>
              <a:t>Je montre rapidement l’architecture / le pipeline du système.</a:t>
            </a:r>
          </a:p>
          <a:p>
            <a:endParaRPr lang="en-US"/>
          </a:p>
          <a:p>
            <a:r>
              <a:rPr lang="en-US"/>
              <a:t>Puis je détaille l’implémentation : détection et export des résultats.</a:t>
            </a:r>
          </a:p>
          <a:p>
            <a:endParaRPr lang="en-US"/>
          </a:p>
          <a:p>
            <a:r>
              <a:rPr lang="en-US"/>
              <a:t>Après ça, je présente les résultats, les limites et les améliorations possibles.</a:t>
            </a:r>
          </a:p>
          <a:p>
            <a:endParaRPr lang="en-US"/>
          </a:p>
          <a:p>
            <a:r>
              <a:rPr lang="en-US"/>
              <a:t>Et je termine par une démonstration en direct : la vidéo de détection + le dashboard + le fichier metrics.csv. »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« Le contexte : mesurer le trafic avec des capteurs physiques coûte cher (installation + maintenance).</a:t>
            </a:r>
          </a:p>
          <a:p>
            <a:r>
              <a:rPr lang="en-US"/>
              <a:t>Et les villes ont besoin d’indicateurs fiables : densité, évolution temporelle, congestion.</a:t>
            </a:r>
          </a:p>
          <a:p>
            <a:r>
              <a:rPr lang="en-US"/>
              <a:t>Le problème aussi, c’est que les vidéos brutes sont difficiles : angles, tremblements, formats MOV/HEVC…</a:t>
            </a:r>
          </a:p>
          <a:p>
            <a:endParaRPr lang="en-US"/>
          </a:p>
          <a:p>
            <a:r>
              <a:rPr lang="en-US"/>
              <a:t>Les objectifs du projet sont donc :</a:t>
            </a:r>
          </a:p>
          <a:p>
            <a:endParaRPr lang="en-US"/>
          </a:p>
          <a:p>
            <a:r>
              <a:rPr lang="en-US"/>
              <a:t>faire une détection image par image,</a:t>
            </a:r>
          </a:p>
          <a:p>
            <a:endParaRPr lang="en-US"/>
          </a:p>
          <a:p>
            <a:r>
              <a:rPr lang="en-US"/>
              <a:t>suivre les objets pour éviter les doubles comptages,</a:t>
            </a:r>
          </a:p>
          <a:p>
            <a:endParaRPr lang="en-US"/>
          </a:p>
          <a:p>
            <a:r>
              <a:rPr lang="en-US"/>
              <a:t>produire des métriques,</a:t>
            </a:r>
          </a:p>
          <a:p>
            <a:endParaRPr lang="en-US"/>
          </a:p>
          <a:p>
            <a:r>
              <a:rPr lang="en-US"/>
              <a:t>visualiser avec un dashboard. »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« J’ai choisi une approche Vision + Deep Learning parce qu’elle s’adapte bien aux scènes réelles.</a:t>
            </a:r>
          </a:p>
          <a:p>
            <a:r>
              <a:rPr lang="en-US"/>
              <a:t>Le modèle principal est YOLO (You Only Look Once) car il est rapide et efficace pour la détection.</a:t>
            </a:r>
          </a:p>
          <a:p>
            <a:r>
              <a:rPr lang="en-US"/>
              <a:t>Pour le tracking, j’utilise un suivi simple avec IDs pour compter sans doublons.</a:t>
            </a:r>
          </a:p>
          <a:p>
            <a:endParaRPr lang="en-US"/>
          </a:p>
          <a:p>
            <a:r>
              <a:rPr lang="en-US"/>
              <a:t>Stack technique : Python, OpenCV pour lire la vidéo, Ultralytics YOLO pour la détection, Streamlit pour le dashboard, et FFmpeg pour convertir les vidéos en H.264 quand nécessaire. »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« Le pipeline est en 3 parties :</a:t>
            </a:r>
          </a:p>
          <a:p>
            <a:endParaRPr lang="en-US"/>
          </a:p>
          <a:p>
            <a:r>
              <a:rPr lang="en-US"/>
              <a:t>Acquisition : on prend une vidéo MP4/H.264 et on lit les frames avec OpenCV.</a:t>
            </a:r>
          </a:p>
          <a:p>
            <a:endParaRPr lang="en-US"/>
          </a:p>
          <a:p>
            <a:r>
              <a:rPr lang="en-US"/>
              <a:t>Traitement IA : détection YOLO puis tracking pour garder un ID unique par véhicule.</a:t>
            </a:r>
          </a:p>
          <a:p>
            <a:endParaRPr lang="en-US"/>
          </a:p>
          <a:p>
            <a:r>
              <a:rPr lang="en-US"/>
              <a:t>Analyse &amp; sortie : calcul des indicateurs, export dans metrics.csv, et affichage en temps réel dans Streamlit.</a:t>
            </a:r>
          </a:p>
          <a:p>
            <a:endParaRPr lang="en-US"/>
          </a:p>
          <a:p>
            <a:r>
              <a:rPr lang="en-US"/>
              <a:t>C’est un MVP : simple, clair, et démontrable en direct. »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« Côté détection, je cible les classes utiles : voiture, bus, camion, moto.</a:t>
            </a:r>
          </a:p>
          <a:p>
            <a:r>
              <a:rPr lang="en-US"/>
              <a:t>J’ai un paramètre clé : le seuil de confiance (conf). Plus il est haut, plus je filtre les faux positifs.</a:t>
            </a:r>
          </a:p>
          <a:p>
            <a:r>
              <a:rPr lang="en-US"/>
              <a:t>Et j’utilise aussi les règles type NMS pour éviter plusieurs boîtes sur le même véhicule.</a:t>
            </a:r>
          </a:p>
          <a:p>
            <a:endParaRPr lang="en-US"/>
          </a:p>
          <a:p>
            <a:r>
              <a:rPr lang="en-US"/>
              <a:t>Ensuite, à intervalles réguliers, j’agrège les infos du tracking et j’écris une nouvelle ligne dans metrics.csv.</a:t>
            </a:r>
          </a:p>
          <a:p>
            <a:r>
              <a:rPr lang="en-US"/>
              <a:t>Ce CSV est la “source de vérité” du dashboard : dès qu’il se met à jour, le dashboard se met à jour. »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« Résultats : la détection fonctionne sur des vidéos réelles, le dashboard affiche les métriques, et le CSV est généré automatiquement.</a:t>
            </a:r>
          </a:p>
          <a:p>
            <a:r>
              <a:rPr lang="en-US"/>
              <a:t>Limites : la vitesse n’est pas réellement calibrée (pixels ≠ mètres), et la qualité dépend beaucoup du point de vue caméra (idéalement une caméra fixe / vue d’ensemble). Il peut aussi y avoir des confusions de classes.</a:t>
            </a:r>
          </a:p>
          <a:p>
            <a:r>
              <a:rPr lang="en-US"/>
              <a:t>Perspectives : ajouter une ROI stricte, faire une calibration réelle avec une référence au sol, et ajouter des analyses avancées comme heatmap et détection automatique de congestion. »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« Je lance d’abord la détection sur la vidéo : ça affiche les bounding boxes.</a:t>
            </a:r>
          </a:p>
          <a:p>
            <a:r>
              <a:rPr lang="en-US"/>
              <a:t>Ensuite, je montre metrics.csv qui se remplit en temps réel.</a:t>
            </a:r>
          </a:p>
          <a:p>
            <a:r>
              <a:rPr lang="en-US"/>
              <a:t>Et enfin je bascule sur Streamlit : on voit le tableau des dernières mesures + la courbe qui évolue. »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8746" b="-75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46793" y="8024048"/>
            <a:ext cx="5932989" cy="628648"/>
            <a:chOff x="0" y="0"/>
            <a:chExt cx="27479213" cy="2911646"/>
          </a:xfrm>
        </p:grpSpPr>
        <p:sp>
          <p:nvSpPr>
            <p:cNvPr id="4" name="Freeform 4"/>
            <p:cNvSpPr/>
            <p:nvPr/>
          </p:nvSpPr>
          <p:spPr>
            <a:xfrm>
              <a:off x="36571" y="10032"/>
              <a:ext cx="27405816" cy="2891612"/>
            </a:xfrm>
            <a:custGeom>
              <a:avLst/>
              <a:gdLst/>
              <a:ahLst/>
              <a:cxnLst/>
              <a:rect l="l" t="t" r="r" b="b"/>
              <a:pathLst>
                <a:path w="27405816" h="2891612">
                  <a:moveTo>
                    <a:pt x="0" y="481952"/>
                  </a:moveTo>
                  <a:cubicBezTo>
                    <a:pt x="0" y="215795"/>
                    <a:pt x="789941" y="0"/>
                    <a:pt x="1764201" y="0"/>
                  </a:cubicBezTo>
                  <a:lnTo>
                    <a:pt x="25641615" y="0"/>
                  </a:lnTo>
                  <a:cubicBezTo>
                    <a:pt x="26615873" y="0"/>
                    <a:pt x="27405816" y="215795"/>
                    <a:pt x="27405816" y="481952"/>
                  </a:cubicBezTo>
                  <a:lnTo>
                    <a:pt x="27405816" y="2409660"/>
                  </a:lnTo>
                  <a:cubicBezTo>
                    <a:pt x="27405816" y="2675817"/>
                    <a:pt x="26615873" y="2891612"/>
                    <a:pt x="25641615" y="2891612"/>
                  </a:cubicBezTo>
                  <a:lnTo>
                    <a:pt x="1764201" y="2891612"/>
                  </a:lnTo>
                  <a:cubicBezTo>
                    <a:pt x="789941" y="2891612"/>
                    <a:pt x="0" y="2675817"/>
                    <a:pt x="0" y="2409660"/>
                  </a:cubicBezTo>
                  <a:close/>
                </a:path>
              </a:pathLst>
            </a:custGeom>
            <a:solidFill>
              <a:srgbClr val="192335"/>
            </a:solidFill>
            <a:ln w="12700">
              <a:solidFill>
                <a:srgbClr val="000000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27478955" cy="2911684"/>
            </a:xfrm>
            <a:custGeom>
              <a:avLst/>
              <a:gdLst/>
              <a:ahLst/>
              <a:cxnLst/>
              <a:rect l="l" t="t" r="r" b="b"/>
              <a:pathLst>
                <a:path w="27478955" h="2911684">
                  <a:moveTo>
                    <a:pt x="0" y="491984"/>
                  </a:moveTo>
                  <a:cubicBezTo>
                    <a:pt x="0" y="220209"/>
                    <a:pt x="806398" y="0"/>
                    <a:pt x="1800772" y="0"/>
                  </a:cubicBezTo>
                  <a:lnTo>
                    <a:pt x="25678186" y="0"/>
                  </a:lnTo>
                  <a:lnTo>
                    <a:pt x="25678186" y="10032"/>
                  </a:lnTo>
                  <a:lnTo>
                    <a:pt x="25678186" y="0"/>
                  </a:lnTo>
                  <a:cubicBezTo>
                    <a:pt x="26672561" y="0"/>
                    <a:pt x="27478955" y="220209"/>
                    <a:pt x="27478955" y="491984"/>
                  </a:cubicBezTo>
                  <a:lnTo>
                    <a:pt x="27442387" y="491984"/>
                  </a:lnTo>
                  <a:lnTo>
                    <a:pt x="27478955" y="491984"/>
                  </a:lnTo>
                  <a:lnTo>
                    <a:pt x="27478955" y="2419692"/>
                  </a:lnTo>
                  <a:lnTo>
                    <a:pt x="27442387" y="2419692"/>
                  </a:lnTo>
                  <a:lnTo>
                    <a:pt x="27478955" y="2419692"/>
                  </a:lnTo>
                  <a:cubicBezTo>
                    <a:pt x="27478955" y="2691467"/>
                    <a:pt x="26672561" y="2911684"/>
                    <a:pt x="25678186" y="2911684"/>
                  </a:cubicBezTo>
                  <a:lnTo>
                    <a:pt x="25678186" y="2901644"/>
                  </a:lnTo>
                  <a:lnTo>
                    <a:pt x="25678186" y="2911684"/>
                  </a:lnTo>
                  <a:lnTo>
                    <a:pt x="1800772" y="2911684"/>
                  </a:lnTo>
                  <a:lnTo>
                    <a:pt x="1800772" y="2901644"/>
                  </a:lnTo>
                  <a:lnTo>
                    <a:pt x="1800772" y="2911684"/>
                  </a:lnTo>
                  <a:cubicBezTo>
                    <a:pt x="806398" y="2911684"/>
                    <a:pt x="0" y="2691467"/>
                    <a:pt x="0" y="2419692"/>
                  </a:cubicBezTo>
                  <a:lnTo>
                    <a:pt x="0" y="491984"/>
                  </a:lnTo>
                  <a:lnTo>
                    <a:pt x="36571" y="491984"/>
                  </a:lnTo>
                  <a:lnTo>
                    <a:pt x="0" y="491984"/>
                  </a:lnTo>
                  <a:moveTo>
                    <a:pt x="73143" y="491984"/>
                  </a:moveTo>
                  <a:lnTo>
                    <a:pt x="73143" y="2419692"/>
                  </a:lnTo>
                  <a:lnTo>
                    <a:pt x="36571" y="2419692"/>
                  </a:lnTo>
                  <a:lnTo>
                    <a:pt x="73143" y="2419692"/>
                  </a:lnTo>
                  <a:cubicBezTo>
                    <a:pt x="73143" y="2680231"/>
                    <a:pt x="846626" y="2891611"/>
                    <a:pt x="1800772" y="2891611"/>
                  </a:cubicBezTo>
                  <a:lnTo>
                    <a:pt x="25678186" y="2891611"/>
                  </a:lnTo>
                  <a:cubicBezTo>
                    <a:pt x="26632697" y="2891611"/>
                    <a:pt x="27405816" y="2680331"/>
                    <a:pt x="27405816" y="2419692"/>
                  </a:cubicBezTo>
                  <a:lnTo>
                    <a:pt x="27405816" y="491984"/>
                  </a:lnTo>
                  <a:cubicBezTo>
                    <a:pt x="27406181" y="231445"/>
                    <a:pt x="26632697" y="20065"/>
                    <a:pt x="25678186" y="20065"/>
                  </a:cubicBezTo>
                  <a:lnTo>
                    <a:pt x="1800772" y="20065"/>
                  </a:lnTo>
                  <a:lnTo>
                    <a:pt x="1800772" y="10032"/>
                  </a:lnTo>
                  <a:lnTo>
                    <a:pt x="1800772" y="20065"/>
                  </a:lnTo>
                  <a:cubicBezTo>
                    <a:pt x="846626" y="20065"/>
                    <a:pt x="73143" y="231445"/>
                    <a:pt x="73143" y="491984"/>
                  </a:cubicBezTo>
                  <a:close/>
                </a:path>
              </a:pathLst>
            </a:custGeom>
            <a:solidFill>
              <a:srgbClr val="2A3A5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346793" y="9241353"/>
            <a:ext cx="5932989" cy="637336"/>
            <a:chOff x="0" y="0"/>
            <a:chExt cx="27104637" cy="2911646"/>
          </a:xfrm>
        </p:grpSpPr>
        <p:sp>
          <p:nvSpPr>
            <p:cNvPr id="7" name="Freeform 7"/>
            <p:cNvSpPr/>
            <p:nvPr/>
          </p:nvSpPr>
          <p:spPr>
            <a:xfrm>
              <a:off x="36073" y="10032"/>
              <a:ext cx="27032238" cy="2891612"/>
            </a:xfrm>
            <a:custGeom>
              <a:avLst/>
              <a:gdLst/>
              <a:ahLst/>
              <a:cxnLst/>
              <a:rect l="l" t="t" r="r" b="b"/>
              <a:pathLst>
                <a:path w="27032238" h="2891612">
                  <a:moveTo>
                    <a:pt x="0" y="481952"/>
                  </a:moveTo>
                  <a:cubicBezTo>
                    <a:pt x="0" y="215795"/>
                    <a:pt x="779172" y="0"/>
                    <a:pt x="1740152" y="0"/>
                  </a:cubicBezTo>
                  <a:lnTo>
                    <a:pt x="25292086" y="0"/>
                  </a:lnTo>
                  <a:cubicBezTo>
                    <a:pt x="26253067" y="0"/>
                    <a:pt x="27032238" y="215795"/>
                    <a:pt x="27032238" y="481952"/>
                  </a:cubicBezTo>
                  <a:lnTo>
                    <a:pt x="27032238" y="2409660"/>
                  </a:lnTo>
                  <a:cubicBezTo>
                    <a:pt x="27032238" y="2675817"/>
                    <a:pt x="26253067" y="2891612"/>
                    <a:pt x="25292086" y="2891612"/>
                  </a:cubicBezTo>
                  <a:lnTo>
                    <a:pt x="1740152" y="2891612"/>
                  </a:lnTo>
                  <a:cubicBezTo>
                    <a:pt x="779172" y="2891612"/>
                    <a:pt x="0" y="2675817"/>
                    <a:pt x="0" y="2409660"/>
                  </a:cubicBezTo>
                  <a:close/>
                </a:path>
              </a:pathLst>
            </a:custGeom>
            <a:solidFill>
              <a:srgbClr val="192335"/>
            </a:solidFill>
            <a:ln w="12700">
              <a:solidFill>
                <a:srgbClr val="00000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27104386" cy="2911684"/>
            </a:xfrm>
            <a:custGeom>
              <a:avLst/>
              <a:gdLst/>
              <a:ahLst/>
              <a:cxnLst/>
              <a:rect l="l" t="t" r="r" b="b"/>
              <a:pathLst>
                <a:path w="27104386" h="2911684">
                  <a:moveTo>
                    <a:pt x="0" y="491984"/>
                  </a:moveTo>
                  <a:cubicBezTo>
                    <a:pt x="0" y="220209"/>
                    <a:pt x="795405" y="0"/>
                    <a:pt x="1776225" y="0"/>
                  </a:cubicBezTo>
                  <a:lnTo>
                    <a:pt x="25328159" y="0"/>
                  </a:lnTo>
                  <a:lnTo>
                    <a:pt x="25328159" y="10032"/>
                  </a:lnTo>
                  <a:lnTo>
                    <a:pt x="25328159" y="0"/>
                  </a:lnTo>
                  <a:cubicBezTo>
                    <a:pt x="26308980" y="0"/>
                    <a:pt x="27104386" y="220209"/>
                    <a:pt x="27104386" y="491984"/>
                  </a:cubicBezTo>
                  <a:lnTo>
                    <a:pt x="27068311" y="491984"/>
                  </a:lnTo>
                  <a:lnTo>
                    <a:pt x="27104386" y="491984"/>
                  </a:lnTo>
                  <a:lnTo>
                    <a:pt x="27104386" y="2419692"/>
                  </a:lnTo>
                  <a:lnTo>
                    <a:pt x="27068311" y="2419692"/>
                  </a:lnTo>
                  <a:lnTo>
                    <a:pt x="27104386" y="2419692"/>
                  </a:lnTo>
                  <a:cubicBezTo>
                    <a:pt x="27104386" y="2691467"/>
                    <a:pt x="26308980" y="2911684"/>
                    <a:pt x="25328159" y="2911684"/>
                  </a:cubicBezTo>
                  <a:lnTo>
                    <a:pt x="25328159" y="2901644"/>
                  </a:lnTo>
                  <a:lnTo>
                    <a:pt x="25328159" y="2911684"/>
                  </a:lnTo>
                  <a:lnTo>
                    <a:pt x="1776225" y="2911684"/>
                  </a:lnTo>
                  <a:lnTo>
                    <a:pt x="1776225" y="2901644"/>
                  </a:lnTo>
                  <a:lnTo>
                    <a:pt x="1776225" y="2911684"/>
                  </a:lnTo>
                  <a:cubicBezTo>
                    <a:pt x="795405" y="2911684"/>
                    <a:pt x="0" y="2691467"/>
                    <a:pt x="0" y="2419692"/>
                  </a:cubicBezTo>
                  <a:lnTo>
                    <a:pt x="0" y="491984"/>
                  </a:lnTo>
                  <a:lnTo>
                    <a:pt x="36073" y="491984"/>
                  </a:lnTo>
                  <a:lnTo>
                    <a:pt x="0" y="491984"/>
                  </a:lnTo>
                  <a:moveTo>
                    <a:pt x="72146" y="491984"/>
                  </a:moveTo>
                  <a:lnTo>
                    <a:pt x="72146" y="2419692"/>
                  </a:lnTo>
                  <a:lnTo>
                    <a:pt x="36073" y="2419692"/>
                  </a:lnTo>
                  <a:lnTo>
                    <a:pt x="72146" y="2419692"/>
                  </a:lnTo>
                  <a:cubicBezTo>
                    <a:pt x="72146" y="2680231"/>
                    <a:pt x="835085" y="2891611"/>
                    <a:pt x="1776225" y="2891611"/>
                  </a:cubicBezTo>
                  <a:lnTo>
                    <a:pt x="25328159" y="2891611"/>
                  </a:lnTo>
                  <a:cubicBezTo>
                    <a:pt x="26269662" y="2891611"/>
                    <a:pt x="27032238" y="2680331"/>
                    <a:pt x="27032238" y="2419692"/>
                  </a:cubicBezTo>
                  <a:lnTo>
                    <a:pt x="27032238" y="491984"/>
                  </a:lnTo>
                  <a:cubicBezTo>
                    <a:pt x="27032601" y="231445"/>
                    <a:pt x="26269659" y="20065"/>
                    <a:pt x="25328159" y="20065"/>
                  </a:cubicBezTo>
                  <a:lnTo>
                    <a:pt x="1776225" y="20065"/>
                  </a:lnTo>
                  <a:lnTo>
                    <a:pt x="1776225" y="10032"/>
                  </a:lnTo>
                  <a:lnTo>
                    <a:pt x="1776225" y="20065"/>
                  </a:lnTo>
                  <a:cubicBezTo>
                    <a:pt x="835085" y="20065"/>
                    <a:pt x="72146" y="231445"/>
                    <a:pt x="72146" y="491984"/>
                  </a:cubicBezTo>
                  <a:close/>
                </a:path>
              </a:pathLst>
            </a:custGeom>
            <a:solidFill>
              <a:srgbClr val="2A3A5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400625" y="9274233"/>
            <a:ext cx="1390799" cy="285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1"/>
              </a:lnSpc>
              <a:spcBef>
                <a:spcPct val="0"/>
              </a:spcBef>
            </a:pPr>
            <a:r>
              <a:rPr lang="en-US" sz="185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M SAADANE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86243" y="9274233"/>
            <a:ext cx="1709384" cy="285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1"/>
              </a:lnSpc>
              <a:spcBef>
                <a:spcPct val="0"/>
              </a:spcBef>
            </a:pPr>
            <a:r>
              <a:rPr lang="en-US" sz="185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20 Janvier 2026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86243" y="8190716"/>
            <a:ext cx="1004683" cy="285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1"/>
              </a:lnSpc>
              <a:spcBef>
                <a:spcPct val="0"/>
              </a:spcBef>
            </a:pPr>
            <a:r>
              <a:rPr lang="en-US" sz="185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3A GI IDS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00625" y="8190716"/>
            <a:ext cx="1589856" cy="285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1"/>
              </a:lnSpc>
              <a:spcBef>
                <a:spcPct val="0"/>
              </a:spcBef>
            </a:pPr>
            <a:r>
              <a:rPr lang="en-US" sz="185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Youssef Bouzit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0327" y="-153408"/>
            <a:ext cx="19864087" cy="11173549"/>
          </a:xfrm>
          <a:custGeom>
            <a:avLst/>
            <a:gdLst/>
            <a:ahLst/>
            <a:cxnLst/>
            <a:rect l="l" t="t" r="r" b="b"/>
            <a:pathLst>
              <a:path w="19864087" h="11173549">
                <a:moveTo>
                  <a:pt x="0" y="0"/>
                </a:moveTo>
                <a:lnTo>
                  <a:pt x="19864087" y="0"/>
                </a:lnTo>
                <a:lnTo>
                  <a:pt x="19864087" y="11173549"/>
                </a:lnTo>
                <a:lnTo>
                  <a:pt x="0" y="11173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95360" y="1958782"/>
            <a:ext cx="17027866" cy="148994"/>
          </a:xfrm>
          <a:custGeom>
            <a:avLst/>
            <a:gdLst/>
            <a:ahLst/>
            <a:cxnLst/>
            <a:rect l="l" t="t" r="r" b="b"/>
            <a:pathLst>
              <a:path w="17027866" h="148994">
                <a:moveTo>
                  <a:pt x="0" y="0"/>
                </a:moveTo>
                <a:lnTo>
                  <a:pt x="17027866" y="0"/>
                </a:lnTo>
                <a:lnTo>
                  <a:pt x="17027866" y="148994"/>
                </a:lnTo>
                <a:lnTo>
                  <a:pt x="0" y="1489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86464" y="1028700"/>
            <a:ext cx="2798566" cy="866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86"/>
              </a:lnSpc>
              <a:spcBef>
                <a:spcPct val="0"/>
              </a:spcBef>
            </a:pPr>
            <a:r>
              <a:rPr lang="en-US" sz="573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PLAN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63375" y="634471"/>
            <a:ext cx="3196363" cy="562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1">
                <a:solidFill>
                  <a:srgbClr val="38BDF8"/>
                </a:solidFill>
                <a:latin typeface="Roboto Bold"/>
                <a:ea typeface="Roboto Bold"/>
                <a:cs typeface="Roboto Bold"/>
                <a:sym typeface="Roboto Bold"/>
              </a:rPr>
              <a:t>VUE D’ENSEMBLE DU PROJET</a:t>
            </a:r>
          </a:p>
          <a:p>
            <a:pPr algn="ctr">
              <a:lnSpc>
                <a:spcPts val="2221"/>
              </a:lnSpc>
              <a:spcBef>
                <a:spcPct val="0"/>
              </a:spcBef>
            </a:pPr>
            <a:endParaRPr lang="en-US" sz="1851" b="1">
              <a:solidFill>
                <a:srgbClr val="38BDF8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63375" y="3431751"/>
            <a:ext cx="12607800" cy="525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2"/>
              </a:lnSpc>
            </a:pPr>
            <a:r>
              <a:rPr lang="en-US" sz="318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1 -Contexte &amp; Problématique + Objectifs du projet</a:t>
            </a:r>
          </a:p>
          <a:p>
            <a:pPr algn="l">
              <a:lnSpc>
                <a:spcPts val="3822"/>
              </a:lnSpc>
            </a:pPr>
            <a:endParaRPr lang="en-US" sz="3185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algn="l">
              <a:lnSpc>
                <a:spcPts val="3822"/>
              </a:lnSpc>
            </a:pPr>
            <a:r>
              <a:rPr lang="en-US" sz="318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2 -Choix de la solution + Technologies &amp; Outils</a:t>
            </a:r>
          </a:p>
          <a:p>
            <a:pPr algn="l">
              <a:lnSpc>
                <a:spcPts val="3822"/>
              </a:lnSpc>
            </a:pPr>
            <a:endParaRPr lang="en-US" sz="3185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algn="l">
              <a:lnSpc>
                <a:spcPts val="3822"/>
              </a:lnSpc>
            </a:pPr>
            <a:r>
              <a:rPr lang="en-US" sz="318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3 -Architecture / Pipeline</a:t>
            </a:r>
          </a:p>
          <a:p>
            <a:pPr algn="l">
              <a:lnSpc>
                <a:spcPts val="3822"/>
              </a:lnSpc>
            </a:pPr>
            <a:endParaRPr lang="en-US" sz="3185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algn="l">
              <a:lnSpc>
                <a:spcPts val="3822"/>
              </a:lnSpc>
            </a:pPr>
            <a:r>
              <a:rPr lang="en-US" sz="318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4 -Implémentation : Détection + Export des résultats</a:t>
            </a:r>
          </a:p>
          <a:p>
            <a:pPr algn="l">
              <a:lnSpc>
                <a:spcPts val="3822"/>
              </a:lnSpc>
            </a:pPr>
            <a:r>
              <a:rPr lang="en-US" sz="318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  <a:p>
            <a:pPr algn="l">
              <a:lnSpc>
                <a:spcPts val="3822"/>
              </a:lnSpc>
            </a:pPr>
            <a:r>
              <a:rPr lang="en-US" sz="318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5 -Résultats + Limites &amp; Perspectives</a:t>
            </a:r>
          </a:p>
          <a:p>
            <a:pPr algn="l">
              <a:lnSpc>
                <a:spcPts val="3822"/>
              </a:lnSpc>
            </a:pPr>
            <a:endParaRPr lang="en-US" sz="3185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algn="l">
              <a:lnSpc>
                <a:spcPts val="3822"/>
              </a:lnSpc>
            </a:pPr>
            <a:r>
              <a:rPr lang="en-US" sz="318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6 -Démonstration </a:t>
            </a:r>
          </a:p>
        </p:txBody>
      </p:sp>
      <p:sp>
        <p:nvSpPr>
          <p:cNvPr id="7" name="Freeform 7"/>
          <p:cNvSpPr/>
          <p:nvPr/>
        </p:nvSpPr>
        <p:spPr>
          <a:xfrm>
            <a:off x="686464" y="725882"/>
            <a:ext cx="703304" cy="194376"/>
          </a:xfrm>
          <a:custGeom>
            <a:avLst/>
            <a:gdLst/>
            <a:ahLst/>
            <a:cxnLst/>
            <a:rect l="l" t="t" r="r" b="b"/>
            <a:pathLst>
              <a:path w="703304" h="194376">
                <a:moveTo>
                  <a:pt x="0" y="0"/>
                </a:moveTo>
                <a:lnTo>
                  <a:pt x="703304" y="0"/>
                </a:lnTo>
                <a:lnTo>
                  <a:pt x="703304" y="194376"/>
                </a:lnTo>
                <a:lnTo>
                  <a:pt x="0" y="1943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862" r="-22862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5" r="-335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401300"/>
          </a:xfrm>
          <a:custGeom>
            <a:avLst/>
            <a:gdLst/>
            <a:ahLst/>
            <a:cxnLst/>
            <a:rect l="l" t="t" r="r" b="b"/>
            <a:pathLst>
              <a:path w="18288000" h="104013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1" r="-561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32720"/>
          </a:xfrm>
          <a:custGeom>
            <a:avLst/>
            <a:gdLst/>
            <a:ahLst/>
            <a:cxnLst/>
            <a:rect l="l" t="t" r="r" b="b"/>
            <a:pathLst>
              <a:path w="18288000" h="10332720">
                <a:moveTo>
                  <a:pt x="0" y="0"/>
                </a:moveTo>
                <a:lnTo>
                  <a:pt x="18288000" y="0"/>
                </a:lnTo>
                <a:lnTo>
                  <a:pt x="18288000" y="10332720"/>
                </a:lnTo>
                <a:lnTo>
                  <a:pt x="0" y="10332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77" b="-777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0327" y="-153408"/>
            <a:ext cx="19864087" cy="11173549"/>
          </a:xfrm>
          <a:custGeom>
            <a:avLst/>
            <a:gdLst/>
            <a:ahLst/>
            <a:cxnLst/>
            <a:rect l="l" t="t" r="r" b="b"/>
            <a:pathLst>
              <a:path w="19864087" h="11173549">
                <a:moveTo>
                  <a:pt x="0" y="0"/>
                </a:moveTo>
                <a:lnTo>
                  <a:pt x="19864087" y="0"/>
                </a:lnTo>
                <a:lnTo>
                  <a:pt x="19864087" y="11173549"/>
                </a:lnTo>
                <a:lnTo>
                  <a:pt x="0" y="111735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95360" y="1958782"/>
            <a:ext cx="17027866" cy="148994"/>
          </a:xfrm>
          <a:custGeom>
            <a:avLst/>
            <a:gdLst/>
            <a:ahLst/>
            <a:cxnLst/>
            <a:rect l="l" t="t" r="r" b="b"/>
            <a:pathLst>
              <a:path w="17027866" h="148994">
                <a:moveTo>
                  <a:pt x="0" y="0"/>
                </a:moveTo>
                <a:lnTo>
                  <a:pt x="17027866" y="0"/>
                </a:lnTo>
                <a:lnTo>
                  <a:pt x="17027866" y="148994"/>
                </a:lnTo>
                <a:lnTo>
                  <a:pt x="0" y="1489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86464" y="725882"/>
            <a:ext cx="703304" cy="194376"/>
          </a:xfrm>
          <a:custGeom>
            <a:avLst/>
            <a:gdLst/>
            <a:ahLst/>
            <a:cxnLst/>
            <a:rect l="l" t="t" r="r" b="b"/>
            <a:pathLst>
              <a:path w="703304" h="194376">
                <a:moveTo>
                  <a:pt x="0" y="0"/>
                </a:moveTo>
                <a:lnTo>
                  <a:pt x="703304" y="0"/>
                </a:lnTo>
                <a:lnTo>
                  <a:pt x="703304" y="194376"/>
                </a:lnTo>
                <a:lnTo>
                  <a:pt x="0" y="1943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862" r="-2286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484052" y="4367391"/>
            <a:ext cx="3250481" cy="3250481"/>
          </a:xfrm>
          <a:custGeom>
            <a:avLst/>
            <a:gdLst/>
            <a:ahLst/>
            <a:cxnLst/>
            <a:rect l="l" t="t" r="r" b="b"/>
            <a:pathLst>
              <a:path w="3250481" h="3250481">
                <a:moveTo>
                  <a:pt x="0" y="0"/>
                </a:moveTo>
                <a:lnTo>
                  <a:pt x="3250481" y="0"/>
                </a:lnTo>
                <a:lnTo>
                  <a:pt x="3250481" y="3250481"/>
                </a:lnTo>
                <a:lnTo>
                  <a:pt x="0" y="32504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63375" y="634471"/>
            <a:ext cx="3196363" cy="562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1"/>
              </a:lnSpc>
            </a:pPr>
            <a:r>
              <a:rPr lang="en-US" sz="1851" b="1">
                <a:solidFill>
                  <a:srgbClr val="38BDF8"/>
                </a:solidFill>
                <a:latin typeface="Roboto Bold"/>
                <a:ea typeface="Roboto Bold"/>
                <a:cs typeface="Roboto Bold"/>
                <a:sym typeface="Roboto Bold"/>
              </a:rPr>
              <a:t>VUE D’ENSEMBLE DU PROJET</a:t>
            </a:r>
          </a:p>
          <a:p>
            <a:pPr algn="ctr">
              <a:lnSpc>
                <a:spcPts val="2221"/>
              </a:lnSpc>
              <a:spcBef>
                <a:spcPct val="0"/>
              </a:spcBef>
            </a:pPr>
            <a:endParaRPr lang="en-US" sz="1851" b="1">
              <a:solidFill>
                <a:srgbClr val="38BDF8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86464" y="1028700"/>
            <a:ext cx="6001630" cy="866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86"/>
              </a:lnSpc>
              <a:spcBef>
                <a:spcPct val="0"/>
              </a:spcBef>
            </a:pPr>
            <a:r>
              <a:rPr lang="en-US" sz="573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Démonstration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744</Words>
  <Application>Microsoft Macintosh PowerPoint</Application>
  <PresentationFormat>Personnalisé</PresentationFormat>
  <Paragraphs>89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Roboto Bold</vt:lpstr>
      <vt:lpstr>Calibri</vt:lpstr>
      <vt:lpstr>Archivo Black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Traffic_MVP_HTML_Design_6slides (1).pptx</dc:title>
  <cp:lastModifiedBy>youssef bt</cp:lastModifiedBy>
  <cp:revision>1</cp:revision>
  <dcterms:created xsi:type="dcterms:W3CDTF">2006-08-16T00:00:00Z</dcterms:created>
  <dcterms:modified xsi:type="dcterms:W3CDTF">2026-01-20T18:24:42Z</dcterms:modified>
  <dc:identifier>DAG-5qofkrE</dc:identifier>
</cp:coreProperties>
</file>